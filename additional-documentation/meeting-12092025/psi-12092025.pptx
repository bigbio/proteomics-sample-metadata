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46"/>
    <p:restoredTop sz="94549"/>
  </p:normalViewPr>
  <p:slideViewPr>
    <p:cSldViewPr snapToGrid="0">
      <p:cViewPr varScale="1">
        <p:scale>
          <a:sx n="108" d="100"/>
          <a:sy n="108" d="100"/>
        </p:scale>
        <p:origin x="84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BDA2B-6DED-B57E-31C6-8D75250BAA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EE559E-448F-CAEA-3C0F-7BF591C5C1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A001ED-0497-4EDB-8C79-C7F30415B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43A19-3F72-BA4F-BF73-9531819B8E87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9633DF-D51C-17D3-10A0-87D1E1CA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C738BD-5B13-EC78-45C4-10FF688CD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D8E76-4BD1-8B49-BBF7-39DBF99A16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25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35C95-F499-AA44-756C-8DDF3CD5A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7DF753-5998-D466-573B-A349839024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155981-758F-6602-CFAB-CAFD124E5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43A19-3F72-BA4F-BF73-9531819B8E87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BE57-B950-FF61-D691-A44EBDB04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6A2D6F-7355-549C-34F0-91EE61990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D8E76-4BD1-8B49-BBF7-39DBF99A16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875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B974F-054C-337C-A183-500EC9E58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FB0982-3DA5-5800-5C4E-4960F85AEC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0EAA4-BC37-9C4F-43AD-E29CB9755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43A19-3F72-BA4F-BF73-9531819B8E87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D65260-75B0-B71B-FBD9-ED4D5A9B2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B0B125-BDF7-A652-98CA-BFBC9E6CA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D8E76-4BD1-8B49-BBF7-39DBF99A16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8165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B050C-078C-BEA1-7AEB-9EA8ED718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4205D1-2A51-FA12-3E6B-FD752E9800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AEF85F-849E-F086-D05C-12A226EC75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A271B7-9EFA-1FB0-212A-8B7413A5F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43A19-3F72-BA4F-BF73-9531819B8E87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10F602-1DA7-A97A-D9A6-3DDA3DD89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8CB678-DAFF-F42D-5C07-3FBA5C0B9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D8E76-4BD1-8B49-BBF7-39DBF99A16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075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2B2AE-DB54-5789-F21C-900539272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470CC6-5E6D-C470-9A58-E3595761B3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AA9144-BF9F-99C6-7D5A-03F4EF4E32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1E3434-33D1-5D4B-4B07-16AC67D8CA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15F520-0728-55A0-49A2-BCD574ECD5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57A5AC-0980-FDAE-3DC4-3F8F5D110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43A19-3F72-BA4F-BF73-9531819B8E87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50BAC7-9CB4-83FA-1177-C31E26B2C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BDE593-F77E-29BA-D9B4-EAF137299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D8E76-4BD1-8B49-BBF7-39DBF99A16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807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6BB19-C2E4-C58C-6728-B9224C040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24532B-AB5A-A5AE-7E56-C5314799F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43A19-3F72-BA4F-BF73-9531819B8E87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06FB70-5059-6945-F026-B0C710C5B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AC85AE-D0DA-7426-3002-FC0F723AB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D8E76-4BD1-8B49-BBF7-39DBF99A16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461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718FEA-202D-8718-4D33-7189F1AAD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43A19-3F72-BA4F-BF73-9531819B8E87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1DA0C4-0612-260E-A5B7-BB777A42D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B83C95-CE31-7CD0-213D-27588F6D8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D8E76-4BD1-8B49-BBF7-39DBF99A16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660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56E55-65F0-CA87-77F6-F44079736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5BBCEB-06B9-07ED-0DCC-50B0C77D5E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657228-00FF-0CA4-349F-A515C009DF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6D5F03-96C7-140D-697C-82F507840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43A19-3F72-BA4F-BF73-9531819B8E87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9CFBB5-F5F6-0D29-1CDE-FE905CC5F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44C60E-223F-08E0-2C98-7AC294223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D8E76-4BD1-8B49-BBF7-39DBF99A16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533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F5932-606B-B2A9-AD31-768D4B4A0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B3E746-A69C-16E6-7E93-F7BA17A6E3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7228C0-2F59-ECA4-8FCC-5C8A13AFE6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B93BD4-EF08-0855-2A18-5D656A09D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43A19-3F72-BA4F-BF73-9531819B8E87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DD9490-E670-445D-8E74-E17B9A07E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8CDAFD-F1BB-6651-AED1-ED0EE91C7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D8E76-4BD1-8B49-BBF7-39DBF99A16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762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C1211-6E02-65FB-5012-CB4E4FBA1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DE3E65-4AC9-0A34-AF3B-E13930C104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89916-7E81-27F4-EEEA-28580A9F4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43A19-3F72-BA4F-BF73-9531819B8E87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D433AB-CB49-17BA-E939-871D1A6D0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68B42E-9DD3-4F6E-3A9E-E6E576742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D8E76-4BD1-8B49-BBF7-39DBF99A16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649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97D711-831B-1D97-43A6-926CAC5B76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DCE2D7-1C1F-D5A7-5814-3D57F787AC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D9113F-EF50-17F8-2E5A-F4771CCE9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43A19-3F72-BA4F-BF73-9531819B8E87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FD9142-E883-86FE-0706-BAFB29A87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2D88A9-D4EA-CF9B-DCD6-839E0BAB8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D8E76-4BD1-8B49-BBF7-39DBF99A16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6372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2645E4-946B-CCAB-B31F-C4B831389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697EC4-848D-CF80-1C5B-E389DB3C83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F10AA8-1A5D-3240-A5B7-D757927395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F43A19-3F72-BA4F-BF73-9531819B8E87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278B24-5A86-FC73-D030-EAF5D5A373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CDF8A1-EC74-9179-E47C-6DAFF2749E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1D8E76-4BD1-8B49-BBF7-39DBF99A16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024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igbio/proteomics-sample-metadata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bigbio/sdrf-pipelines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bigbio/proteomics-sample-metadata/pull/733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bigbio/proteomics-sample-metadata/issues/749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bigbio/proteomics-sample-metadata/issues/727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bigbio/proteomics-sample-metadata/issues/754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bigbio/proteomics-sample-metadata/issues/755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ithub.com/bigbio/sdrf-pipelines/pull/219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E43AD8D0-51AD-C08D-0C3A-C4C216638C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717" y="-1"/>
            <a:ext cx="70326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12449C-16BF-F2C4-31F9-ECB13BC9F426}"/>
              </a:ext>
            </a:extLst>
          </p:cNvPr>
          <p:cNvSpPr txBox="1"/>
          <p:nvPr/>
        </p:nvSpPr>
        <p:spPr>
          <a:xfrm>
            <a:off x="6515225" y="523416"/>
            <a:ext cx="501252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1600" dirty="0">
                <a:hlinkClick r:id="rId3"/>
              </a:rPr>
              <a:t>https://github.com/bigbio/proteomics-sample-metadata</a:t>
            </a:r>
            <a:r>
              <a:rPr lang="en-US" sz="1600" dirty="0"/>
              <a:t> 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sz="1600" dirty="0">
                <a:hlinkClick r:id="rId4"/>
              </a:rPr>
              <a:t>https://github.com/bigbio/sdrf-pipelines</a:t>
            </a:r>
            <a:r>
              <a:rPr lang="en-US" sz="1600" dirty="0"/>
              <a:t> </a:t>
            </a:r>
          </a:p>
          <a:p>
            <a:pPr marL="285750" indent="-285750">
              <a:buFont typeface="Wingdings" pitchFamily="2" charset="2"/>
              <a:buChar char="q"/>
            </a:pPr>
            <a:endParaRPr lang="en-US" sz="1600" dirty="0"/>
          </a:p>
          <a:p>
            <a:pPr marL="285750" indent="-285750">
              <a:buFont typeface="Wingdings" pitchFamily="2" charset="2"/>
              <a:buChar char="q"/>
            </a:pPr>
            <a:endParaRPr lang="en-US" sz="1600" dirty="0"/>
          </a:p>
          <a:p>
            <a:pPr marL="285750" indent="-285750">
              <a:buFont typeface="Wingdings" pitchFamily="2" charset="2"/>
              <a:buChar char="q"/>
            </a:pPr>
            <a:endParaRPr lang="en-US" sz="1600" dirty="0"/>
          </a:p>
          <a:p>
            <a:pPr marL="285750" indent="-285750">
              <a:buFont typeface="Wingdings" pitchFamily="2" charset="2"/>
              <a:buChar char="q"/>
            </a:pPr>
            <a:r>
              <a:rPr lang="en-US" sz="1600" dirty="0"/>
              <a:t>Resources support: </a:t>
            </a:r>
          </a:p>
          <a:p>
            <a:pPr marL="742950" lvl="1" indent="-285750">
              <a:buFont typeface="Wingdings" pitchFamily="2" charset="2"/>
              <a:buChar char="q"/>
            </a:pPr>
            <a:r>
              <a:rPr lang="en-US" sz="1600" dirty="0"/>
              <a:t>SDRF validator (service coming in the future)</a:t>
            </a:r>
          </a:p>
          <a:p>
            <a:pPr marL="742950" lvl="1" indent="-285750">
              <a:buFont typeface="Wingdings" pitchFamily="2" charset="2"/>
              <a:buChar char="q"/>
            </a:pPr>
            <a:r>
              <a:rPr lang="en-US" sz="1600" dirty="0"/>
              <a:t>PRIDE</a:t>
            </a:r>
          </a:p>
          <a:p>
            <a:pPr marL="742950" lvl="1" indent="-285750">
              <a:buFont typeface="Wingdings" pitchFamily="2" charset="2"/>
              <a:buChar char="q"/>
            </a:pPr>
            <a:r>
              <a:rPr lang="en-US" sz="1600" dirty="0"/>
              <a:t>MaxQuant</a:t>
            </a:r>
          </a:p>
          <a:p>
            <a:pPr marL="742950" lvl="1" indent="-285750">
              <a:buFont typeface="Wingdings" pitchFamily="2" charset="2"/>
              <a:buChar char="q"/>
            </a:pPr>
            <a:r>
              <a:rPr lang="en-US" sz="1600" dirty="0"/>
              <a:t>lesSDRF</a:t>
            </a:r>
          </a:p>
          <a:p>
            <a:pPr marL="742950" lvl="1" indent="-285750">
              <a:buFont typeface="Wingdings" pitchFamily="2" charset="2"/>
              <a:buChar char="q"/>
            </a:pPr>
            <a:r>
              <a:rPr lang="en-US" sz="1600" dirty="0"/>
              <a:t>CUPCAKE</a:t>
            </a:r>
          </a:p>
          <a:p>
            <a:pPr marL="742950" lvl="1" indent="-285750">
              <a:buFont typeface="Wingdings" pitchFamily="2" charset="2"/>
              <a:buChar char="q"/>
            </a:pPr>
            <a:r>
              <a:rPr lang="en-US" sz="1600" dirty="0"/>
              <a:t>Wombat</a:t>
            </a:r>
          </a:p>
          <a:p>
            <a:pPr marL="742950" lvl="1" indent="-285750">
              <a:buFont typeface="Wingdings" pitchFamily="2" charset="2"/>
              <a:buChar char="q"/>
            </a:pPr>
            <a:r>
              <a:rPr lang="en-US" sz="1600" dirty="0"/>
              <a:t>quantms ecosystem (pmultiqc, quantms)</a:t>
            </a:r>
          </a:p>
        </p:txBody>
      </p:sp>
    </p:spTree>
    <p:extLst>
      <p:ext uri="{BB962C8B-B14F-4D97-AF65-F5344CB8AC3E}">
        <p14:creationId xmlns:p14="http://schemas.microsoft.com/office/powerpoint/2010/main" val="960004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56F20B2E-2ACF-DD0C-FB6A-1E5A12C381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330" y="1031980"/>
            <a:ext cx="11143388" cy="40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7040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AFD6B4C-0CC1-E1DD-39D4-B067F8805270}"/>
              </a:ext>
            </a:extLst>
          </p:cNvPr>
          <p:cNvSpPr txBox="1"/>
          <p:nvPr/>
        </p:nvSpPr>
        <p:spPr>
          <a:xfrm>
            <a:off x="5026046" y="6262275"/>
            <a:ext cx="77298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https://github.com/bigbio/proteomics-sample-metadata/pull/733</a:t>
            </a:r>
            <a:r>
              <a:rPr lang="en-US" dirty="0"/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3D9A11-D2B6-0D73-8ABF-A7B59D12F314}"/>
              </a:ext>
            </a:extLst>
          </p:cNvPr>
          <p:cNvSpPr txBox="1"/>
          <p:nvPr/>
        </p:nvSpPr>
        <p:spPr>
          <a:xfrm>
            <a:off x="562829" y="411059"/>
            <a:ext cx="11526169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400" b="1" dirty="0"/>
              <a:t>What’s Changed / Added</a:t>
            </a:r>
          </a:p>
          <a:p>
            <a:pPr>
              <a:buFont typeface="+mj-lt"/>
              <a:buAutoNum type="arabicPeriod"/>
            </a:pPr>
            <a:r>
              <a:rPr lang="en-GB" sz="1400" b="1" dirty="0"/>
              <a:t>Restructured Spec &amp; Versioning</a:t>
            </a:r>
            <a:endParaRPr lang="en-GB" sz="1400" dirty="0"/>
          </a:p>
          <a:p>
            <a:pPr marL="742950" lvl="1" indent="-285750">
              <a:buFont typeface="+mj-lt"/>
              <a:buAutoNum type="arabicPeriod"/>
            </a:pPr>
            <a:r>
              <a:rPr lang="en-GB" sz="1400" dirty="0"/>
              <a:t>Core specification separated from “use-case guidelines/templates” (e.g. Immunopeptidomics, Single Cell, Crosslinking, Affinity, Metaproteomics). </a:t>
            </a:r>
            <a:r>
              <a:rPr lang="en-GB" sz="1400" dirty="0">
                <a:hlinkClick r:id="rId2"/>
              </a:rPr>
              <a:t>GitHub</a:t>
            </a:r>
            <a:endParaRPr lang="en-GB" sz="1400" dirty="0"/>
          </a:p>
          <a:p>
            <a:pPr marL="742950" lvl="1" indent="-285750">
              <a:buFont typeface="+mj-lt"/>
              <a:buAutoNum type="arabicPeriod"/>
            </a:pPr>
            <a:r>
              <a:rPr lang="en-GB" sz="1400" dirty="0"/>
              <a:t>Documentation reorganised: new README, clearer framing (motivation, spec structure), updated external links and ontology references. </a:t>
            </a:r>
            <a:r>
              <a:rPr lang="en-GB" sz="1400" dirty="0">
                <a:hlinkClick r:id="rId2"/>
              </a:rPr>
              <a:t>GitHub</a:t>
            </a:r>
            <a:endParaRPr lang="en-GB" sz="1400" dirty="0"/>
          </a:p>
          <a:p>
            <a:pPr>
              <a:buFont typeface="+mj-lt"/>
              <a:buAutoNum type="arabicPeriod"/>
            </a:pPr>
            <a:r>
              <a:rPr lang="en-GB" sz="1400" b="1" dirty="0"/>
              <a:t>Use-Case Guidelines &amp; Templates</a:t>
            </a:r>
            <a:endParaRPr lang="en-GB" sz="1400" dirty="0"/>
          </a:p>
          <a:p>
            <a:pPr marL="742950" lvl="1" indent="-285750">
              <a:buFont typeface="+mj-lt"/>
              <a:buAutoNum type="arabicPeriod"/>
            </a:pPr>
            <a:r>
              <a:rPr lang="en-GB" sz="1400" dirty="0"/>
              <a:t>For each special type of proteomics experiment (e.g. single cell, </a:t>
            </a:r>
            <a:r>
              <a:rPr lang="en-GB" sz="1400" dirty="0" err="1"/>
              <a:t>immunopeptidomics</a:t>
            </a:r>
            <a:r>
              <a:rPr lang="en-GB" sz="1400" dirty="0"/>
              <a:t>, crosslinking etc.), there are now dedicated guideline docs plus templates. </a:t>
            </a:r>
            <a:r>
              <a:rPr lang="en-GB" sz="1400" dirty="0">
                <a:hlinkClick r:id="rId2"/>
              </a:rPr>
              <a:t>GitHub</a:t>
            </a:r>
            <a:endParaRPr lang="en-GB" sz="1400" dirty="0"/>
          </a:p>
          <a:p>
            <a:pPr marL="742950" lvl="1" indent="-285750">
              <a:buFont typeface="+mj-lt"/>
              <a:buAutoNum type="arabicPeriod"/>
            </a:pPr>
            <a:r>
              <a:rPr lang="en-GB" sz="1400" dirty="0"/>
              <a:t>Each guideline defines: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GB" sz="1400" dirty="0"/>
              <a:t>Additional required metadata columns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GB" sz="1400" dirty="0"/>
              <a:t>Optional/recommended columns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GB" sz="1400" dirty="0"/>
              <a:t>Examples (SDRF files)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GB" sz="1400" dirty="0"/>
              <a:t>Best practices. </a:t>
            </a:r>
            <a:r>
              <a:rPr lang="en-GB" sz="1400" dirty="0">
                <a:hlinkClick r:id="rId2"/>
              </a:rPr>
              <a:t>GitHub</a:t>
            </a:r>
            <a:endParaRPr lang="en-GB" sz="1400" dirty="0"/>
          </a:p>
          <a:p>
            <a:pPr>
              <a:buFont typeface="+mj-lt"/>
              <a:buAutoNum type="arabicPeriod"/>
            </a:pPr>
            <a:r>
              <a:rPr lang="en-GB" sz="1400" b="1" dirty="0"/>
              <a:t>Data Analysis Metadata Convention</a:t>
            </a:r>
            <a:endParaRPr lang="en-GB" sz="1400" dirty="0"/>
          </a:p>
          <a:p>
            <a:pPr marL="742950" lvl="1" indent="-285750">
              <a:buFont typeface="+mj-lt"/>
              <a:buAutoNum type="arabicPeriod"/>
            </a:pPr>
            <a:r>
              <a:rPr lang="en-GB" sz="1400" dirty="0"/>
              <a:t>Previously part of core spec; now moved to a new directory (“metadata-conventions”). </a:t>
            </a:r>
            <a:r>
              <a:rPr lang="en-GB" sz="1400" dirty="0">
                <a:hlinkClick r:id="rId2"/>
              </a:rPr>
              <a:t>GitHub</a:t>
            </a:r>
            <a:endParaRPr lang="en-GB" sz="1400" dirty="0"/>
          </a:p>
          <a:p>
            <a:pPr marL="742950" lvl="1" indent="-285750">
              <a:buFont typeface="+mj-lt"/>
              <a:buAutoNum type="arabicPeriod"/>
            </a:pPr>
            <a:r>
              <a:rPr lang="en-GB" sz="1400" dirty="0"/>
              <a:t>Defined version 1.0.0 for that convention. </a:t>
            </a:r>
            <a:r>
              <a:rPr lang="en-GB" sz="1400" dirty="0">
                <a:hlinkClick r:id="rId2"/>
              </a:rPr>
              <a:t>GitHub</a:t>
            </a:r>
            <a:endParaRPr lang="en-GB" sz="1400" dirty="0"/>
          </a:p>
          <a:p>
            <a:pPr>
              <a:buFont typeface="+mj-lt"/>
              <a:buAutoNum type="arabicPeriod"/>
            </a:pPr>
            <a:r>
              <a:rPr lang="en-GB" sz="1400" b="1" dirty="0"/>
              <a:t>Documentation &amp; Contribution Tools</a:t>
            </a:r>
            <a:endParaRPr lang="en-GB" sz="1400" dirty="0"/>
          </a:p>
          <a:p>
            <a:pPr marL="742950" lvl="1" indent="-285750">
              <a:buFont typeface="+mj-lt"/>
              <a:buAutoNum type="arabicPeriod"/>
            </a:pPr>
            <a:r>
              <a:rPr lang="en-GB" sz="1400" dirty="0"/>
              <a:t>New issue template (</a:t>
            </a:r>
            <a:r>
              <a:rPr lang="en-GB" sz="1400" dirty="0">
                <a:latin typeface="Courier New" panose="02070309020205020404" pitchFamily="49" charset="0"/>
              </a:rPr>
              <a:t>.</a:t>
            </a:r>
            <a:r>
              <a:rPr lang="en-GB" sz="1400" dirty="0" err="1">
                <a:latin typeface="Courier New" panose="02070309020205020404" pitchFamily="49" charset="0"/>
              </a:rPr>
              <a:t>github</a:t>
            </a:r>
            <a:r>
              <a:rPr lang="en-GB" sz="1400" dirty="0">
                <a:latin typeface="Courier New" panose="02070309020205020404" pitchFamily="49" charset="0"/>
              </a:rPr>
              <a:t>/ISSUE_TEMPLATE/request-guidelines-</a:t>
            </a:r>
            <a:r>
              <a:rPr lang="en-GB" sz="1400" dirty="0" err="1">
                <a:latin typeface="Courier New" panose="02070309020205020404" pitchFamily="49" charset="0"/>
              </a:rPr>
              <a:t>creation.md</a:t>
            </a:r>
            <a:r>
              <a:rPr lang="en-GB" sz="1400" dirty="0"/>
              <a:t>) to standardise requests for new use-case guidelines. </a:t>
            </a:r>
            <a:r>
              <a:rPr lang="en-GB" sz="1400" dirty="0">
                <a:hlinkClick r:id="rId2"/>
              </a:rPr>
              <a:t>GitHub</a:t>
            </a:r>
            <a:endParaRPr lang="en-GB" sz="1400" dirty="0"/>
          </a:p>
          <a:p>
            <a:pPr marL="742950" lvl="1" indent="-285750">
              <a:buFont typeface="+mj-lt"/>
              <a:buAutoNum type="arabicPeriod"/>
            </a:pPr>
            <a:r>
              <a:rPr lang="en-GB" sz="1400" dirty="0"/>
              <a:t>Overhauled examples directory, use-case readmes, templates, README-TEMPLATE files. </a:t>
            </a:r>
            <a:r>
              <a:rPr lang="en-GB" sz="1400" dirty="0">
                <a:hlinkClick r:id="rId2"/>
              </a:rPr>
              <a:t>GitHub</a:t>
            </a:r>
            <a:endParaRPr lang="en-GB" sz="1400" dirty="0"/>
          </a:p>
          <a:p>
            <a:pPr>
              <a:buFont typeface="+mj-lt"/>
              <a:buAutoNum type="arabicPeriod"/>
            </a:pPr>
            <a:r>
              <a:rPr lang="en-GB" sz="1400" b="1" dirty="0"/>
              <a:t>Technical &amp; CI Updates</a:t>
            </a:r>
            <a:endParaRPr lang="en-GB" sz="1400" dirty="0"/>
          </a:p>
          <a:p>
            <a:pPr marL="742950" lvl="1" indent="-285750">
              <a:buFont typeface="+mj-lt"/>
              <a:buAutoNum type="arabicPeriod"/>
            </a:pPr>
            <a:r>
              <a:rPr lang="en-GB" sz="1400" dirty="0"/>
              <a:t>Bumped version to </a:t>
            </a:r>
            <a:r>
              <a:rPr lang="en-GB" sz="1400" b="1" dirty="0"/>
              <a:t>1.1.0</a:t>
            </a:r>
            <a:r>
              <a:rPr lang="en-GB" sz="1400" dirty="0"/>
              <a:t>. </a:t>
            </a:r>
            <a:r>
              <a:rPr lang="en-GB" sz="1400" dirty="0">
                <a:hlinkClick r:id="rId2"/>
              </a:rPr>
              <a:t>GitHub</a:t>
            </a:r>
            <a:endParaRPr lang="en-GB" sz="1400" dirty="0"/>
          </a:p>
          <a:p>
            <a:pPr marL="742950" lvl="1" indent="-285750">
              <a:buFont typeface="+mj-lt"/>
              <a:buAutoNum type="arabicPeriod"/>
            </a:pPr>
            <a:r>
              <a:rPr lang="en-GB" sz="1400" dirty="0"/>
              <a:t>Updated CI workflows: e.g. changed GitHub Actions runner versions (Python 3.8 → 3.10) and checkout actions. </a:t>
            </a:r>
            <a:r>
              <a:rPr lang="en-GB" sz="1400" dirty="0">
                <a:hlinkClick r:id="rId2"/>
              </a:rPr>
              <a:t>GitHub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3034596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97572-8C62-CEDA-A11A-3A90BFA6A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Refinements and issues: uniqueness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BC3DDC-3B46-0642-57F6-0092A2D8CE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033774"/>
          </a:xfrm>
        </p:spPr>
        <p:txBody>
          <a:bodyPr/>
          <a:lstStyle/>
          <a:p>
            <a:r>
              <a:rPr lang="en-US" i="1" dirty="0"/>
              <a:t>source name</a:t>
            </a:r>
            <a:r>
              <a:rPr lang="en-US" dirty="0"/>
              <a:t> + </a:t>
            </a:r>
            <a:r>
              <a:rPr lang="en-US" i="1" dirty="0"/>
              <a:t>assay name + label</a:t>
            </a:r>
            <a:r>
              <a:rPr lang="en-US" dirty="0"/>
              <a:t>: unique combination</a:t>
            </a:r>
          </a:p>
          <a:p>
            <a:r>
              <a:rPr lang="en-US" i="1" dirty="0"/>
              <a:t>assay name</a:t>
            </a:r>
            <a:r>
              <a:rPr lang="en-US" dirty="0"/>
              <a:t> + </a:t>
            </a:r>
            <a:r>
              <a:rPr lang="en-US" i="1" dirty="0"/>
              <a:t>comment[data file]</a:t>
            </a:r>
            <a:r>
              <a:rPr lang="en-US" dirty="0"/>
              <a:t>: unique combination</a:t>
            </a:r>
          </a:p>
          <a:p>
            <a:r>
              <a:rPr lang="en-US" i="1" dirty="0"/>
              <a:t>source name</a:t>
            </a:r>
            <a:r>
              <a:rPr lang="en-US" dirty="0"/>
              <a:t>: unique to the sample </a:t>
            </a:r>
            <a:r>
              <a:rPr lang="en-US" i="1" dirty="0"/>
              <a:t>characteristics</a:t>
            </a:r>
          </a:p>
          <a:p>
            <a:r>
              <a:rPr lang="en-US" i="1" dirty="0"/>
              <a:t>assay name: </a:t>
            </a:r>
            <a:r>
              <a:rPr lang="en-US" dirty="0"/>
              <a:t>unique to the data</a:t>
            </a:r>
            <a:r>
              <a:rPr lang="en-US" i="1" dirty="0"/>
              <a:t> comments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592F02-C693-720E-F7DE-BE67564FF879}"/>
              </a:ext>
            </a:extLst>
          </p:cNvPr>
          <p:cNvSpPr txBox="1"/>
          <p:nvPr/>
        </p:nvSpPr>
        <p:spPr>
          <a:xfrm>
            <a:off x="838200" y="4223609"/>
            <a:ext cx="110153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hlinkClick r:id="rId2"/>
              </a:rPr>
              <a:t>https://github.com/bigbio/proteomics-sample-metadata/issues/749</a:t>
            </a:r>
            <a:r>
              <a:rPr lang="en-US" sz="2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270469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CEBE0-D692-A29D-D95F-7FDEFDEFC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8848A-2C46-512E-A973-757EFB606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Refinements and issues: </a:t>
            </a:r>
            <a:r>
              <a:rPr lang="en-US" i="1" dirty="0"/>
              <a:t>technology type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7F6CBC-A221-64B7-0EAD-2445D4AE745F}"/>
              </a:ext>
            </a:extLst>
          </p:cNvPr>
          <p:cNvSpPr txBox="1"/>
          <p:nvPr/>
        </p:nvSpPr>
        <p:spPr>
          <a:xfrm>
            <a:off x="674502" y="5303520"/>
            <a:ext cx="108429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hlinkClick r:id="rId2"/>
              </a:rPr>
              <a:t>https://github.com/bigbio/proteomics-sample-metadata/issues/727</a:t>
            </a:r>
            <a:r>
              <a:rPr lang="en-US" sz="2800" dirty="0"/>
              <a:t> 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BB2D796-D436-AEF6-3B72-BBA3AB35BB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033774"/>
          </a:xfrm>
        </p:spPr>
        <p:txBody>
          <a:bodyPr>
            <a:normAutofit fontScale="92500" lnSpcReduction="10000"/>
          </a:bodyPr>
          <a:lstStyle/>
          <a:p>
            <a:r>
              <a:rPr lang="en-US" i="1" dirty="0"/>
              <a:t>technology type: </a:t>
            </a:r>
            <a:r>
              <a:rPr lang="en-US" dirty="0"/>
              <a:t>technology type is used to differentiate between experiment types, mass spectrometry from, for example, other omics experiments, or in the future, affinity proteomics.</a:t>
            </a:r>
          </a:p>
          <a:p>
            <a:endParaRPr lang="en-US" i="1" dirty="0"/>
          </a:p>
          <a:p>
            <a:r>
              <a:rPr lang="en-US" dirty="0"/>
              <a:t>Make the</a:t>
            </a:r>
            <a:r>
              <a:rPr lang="en-US" i="1" dirty="0"/>
              <a:t> technology type </a:t>
            </a:r>
            <a:r>
              <a:rPr lang="en-US" dirty="0"/>
              <a:t>right after the</a:t>
            </a:r>
            <a:r>
              <a:rPr lang="en-US" i="1" dirty="0"/>
              <a:t> assay name.  </a:t>
            </a:r>
          </a:p>
        </p:txBody>
      </p:sp>
    </p:spTree>
    <p:extLst>
      <p:ext uri="{BB962C8B-B14F-4D97-AF65-F5344CB8AC3E}">
        <p14:creationId xmlns:p14="http://schemas.microsoft.com/office/powerpoint/2010/main" val="28686895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EFF7E-5ED1-C643-4C29-19B82B28F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9CB35-4084-A92C-CE01-825C9FD46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Refinements and issues: pooled samples</a:t>
            </a:r>
            <a:endParaRPr lang="en-US" i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95A616-EF82-37CF-1FEF-B941EA474332}"/>
              </a:ext>
            </a:extLst>
          </p:cNvPr>
          <p:cNvSpPr txBox="1"/>
          <p:nvPr/>
        </p:nvSpPr>
        <p:spPr>
          <a:xfrm>
            <a:off x="674502" y="5303520"/>
            <a:ext cx="108429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hlinkClick r:id="rId2"/>
              </a:rPr>
              <a:t>https://github.com/bigbio/proteomics-sample-metadata/issues/754</a:t>
            </a:r>
            <a:r>
              <a:rPr lang="en-US" sz="2800" dirty="0"/>
              <a:t> 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8B28237-DCAA-FAD3-911D-C3C083073A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472" y="1558637"/>
            <a:ext cx="11353800" cy="3740726"/>
          </a:xfrm>
        </p:spPr>
        <p:txBody>
          <a:bodyPr>
            <a:normAutofit fontScale="70000" lnSpcReduction="20000"/>
          </a:bodyPr>
          <a:lstStyle/>
          <a:p>
            <a:r>
              <a:rPr lang="en-GB" b="1" dirty="0"/>
              <a:t>Problem</a:t>
            </a:r>
            <a:r>
              <a:rPr lang="en-GB" dirty="0"/>
              <a:t>: In multiplex experiments, there are “Reference” or “Pooled” samples. The current validator requires metadata fields like age, sex, etc. for </a:t>
            </a:r>
            <a:r>
              <a:rPr lang="en-GB" i="1" dirty="0"/>
              <a:t>all</a:t>
            </a:r>
            <a:r>
              <a:rPr lang="en-GB" dirty="0"/>
              <a:t> samples. But for reference/pooled samples, those fields are often not applicable. </a:t>
            </a:r>
            <a:r>
              <a:rPr lang="en-GB" dirty="0">
                <a:hlinkClick r:id="rId2"/>
              </a:rPr>
              <a:t>GitHub</a:t>
            </a:r>
            <a:endParaRPr lang="en-GB" dirty="0"/>
          </a:p>
          <a:p>
            <a:r>
              <a:rPr lang="en-GB" b="1" dirty="0"/>
              <a:t>Consequence</a:t>
            </a:r>
            <a:r>
              <a:rPr lang="en-GB" dirty="0"/>
              <a:t>: As is, many experiments fail validation because for pooled/reference samples, “age = not applicable” or leaving those fields blank causes validation errors. </a:t>
            </a:r>
            <a:r>
              <a:rPr lang="en-GB" dirty="0">
                <a:hlinkClick r:id="rId2"/>
              </a:rPr>
              <a:t>GitHub</a:t>
            </a:r>
            <a:endParaRPr lang="en-GB" dirty="0"/>
          </a:p>
          <a:p>
            <a:r>
              <a:rPr lang="en-GB" b="1" dirty="0"/>
              <a:t>Proposed Solutions</a:t>
            </a:r>
            <a:r>
              <a:rPr lang="en-GB" dirty="0"/>
              <a:t>:</a:t>
            </a:r>
          </a:p>
          <a:p>
            <a:r>
              <a:rPr lang="en-GB" b="1" dirty="0"/>
              <a:t>Flag</a:t>
            </a:r>
            <a:r>
              <a:rPr lang="en-GB" dirty="0"/>
              <a:t> reference/pooled samples in the metadata so that different validation rules apply to them (i.e. relax requirements when a sample is marked as reference/pooled). </a:t>
            </a:r>
            <a:r>
              <a:rPr lang="en-GB" dirty="0">
                <a:hlinkClick r:id="rId2"/>
              </a:rPr>
              <a:t>GitHub</a:t>
            </a:r>
            <a:endParaRPr lang="en-GB" dirty="0"/>
          </a:p>
          <a:p>
            <a:r>
              <a:rPr lang="en-GB" b="1" dirty="0"/>
              <a:t>Relax rules</a:t>
            </a:r>
            <a:r>
              <a:rPr lang="en-GB" dirty="0"/>
              <a:t>: explicitly allow “not applicable” or make some fields optional when the sample is pooled/reference. </a:t>
            </a:r>
            <a:r>
              <a:rPr lang="en-GB" dirty="0">
                <a:hlinkClick r:id="rId2"/>
              </a:rPr>
              <a:t>GitHub</a:t>
            </a:r>
            <a:endParaRPr lang="en-GB" dirty="0"/>
          </a:p>
          <a:p>
            <a:r>
              <a:rPr lang="en-GB" b="1" dirty="0"/>
              <a:t>Importance</a:t>
            </a:r>
            <a:r>
              <a:rPr lang="en-GB" dirty="0"/>
              <a:t>: Without this change, many valid multiplex experiments will be blocked by the validator even when the lack of specific metadata is expected for pooled/reference samples.</a:t>
            </a:r>
          </a:p>
        </p:txBody>
      </p:sp>
    </p:spTree>
    <p:extLst>
      <p:ext uri="{BB962C8B-B14F-4D97-AF65-F5344CB8AC3E}">
        <p14:creationId xmlns:p14="http://schemas.microsoft.com/office/powerpoint/2010/main" val="29079309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3BE83-B0D3-D93F-DAAB-D91A12ACD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3F716-CB79-5C6D-0853-575608BF7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Refinements and issues: DDA mode</a:t>
            </a:r>
            <a:endParaRPr lang="en-US" i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5896F4-CD1B-9266-2A16-3071457E6F24}"/>
              </a:ext>
            </a:extLst>
          </p:cNvPr>
          <p:cNvSpPr txBox="1"/>
          <p:nvPr/>
        </p:nvSpPr>
        <p:spPr>
          <a:xfrm>
            <a:off x="674502" y="5303520"/>
            <a:ext cx="108429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hlinkClick r:id="rId2"/>
              </a:rPr>
              <a:t>https://github.com/bigbio/proteomics-sample-metadata/issues/755</a:t>
            </a:r>
            <a:r>
              <a:rPr lang="en-US" sz="2800" dirty="0"/>
              <a:t> 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E2180B3-1E72-B5EA-38E5-125F4A4ECC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472" y="1558637"/>
            <a:ext cx="11353800" cy="3740726"/>
          </a:xfrm>
        </p:spPr>
        <p:txBody>
          <a:bodyPr>
            <a:normAutofit fontScale="92500" lnSpcReduction="20000"/>
          </a:bodyPr>
          <a:lstStyle/>
          <a:p>
            <a:r>
              <a:rPr lang="en-GB" b="1" dirty="0"/>
              <a:t>What it is:</a:t>
            </a:r>
            <a:endParaRPr lang="en-GB" dirty="0"/>
          </a:p>
          <a:p>
            <a:r>
              <a:rPr lang="en-GB" dirty="0"/>
              <a:t>In proteomics, there are different strategies for acquiring data — notably </a:t>
            </a:r>
            <a:r>
              <a:rPr lang="en-GB" b="1" dirty="0"/>
              <a:t>Data-Dependent Acquisition (DDA)</a:t>
            </a:r>
            <a:r>
              <a:rPr lang="en-GB" dirty="0"/>
              <a:t> vs </a:t>
            </a:r>
            <a:r>
              <a:rPr lang="en-GB" b="1" dirty="0"/>
              <a:t>Data-Independent Acquisition (DIA)</a:t>
            </a:r>
            <a:r>
              <a:rPr lang="en-GB" dirty="0"/>
              <a:t>. </a:t>
            </a:r>
            <a:r>
              <a:rPr lang="en-GB" dirty="0">
                <a:hlinkClick r:id="rId2"/>
              </a:rPr>
              <a:t>GitHub</a:t>
            </a:r>
            <a:endParaRPr lang="en-GB" dirty="0"/>
          </a:p>
          <a:p>
            <a:r>
              <a:rPr lang="en-GB" dirty="0"/>
              <a:t>The issue proposes that metadata property </a:t>
            </a:r>
            <a:r>
              <a:rPr lang="en-GB" b="1" dirty="0"/>
              <a:t>“proteomics data acquisition method”</a:t>
            </a:r>
            <a:r>
              <a:rPr lang="en-GB" dirty="0"/>
              <a:t> should always be specified using an ontology term (for example: PRIDE terms like PRIDE:0000627 for DDA; PRIDE:0000450 for DIA). </a:t>
            </a:r>
            <a:r>
              <a:rPr lang="en-GB" dirty="0">
                <a:hlinkClick r:id="rId2"/>
              </a:rPr>
              <a:t>GitHub</a:t>
            </a:r>
            <a:endParaRPr lang="en-GB" dirty="0"/>
          </a:p>
          <a:p>
            <a:r>
              <a:rPr lang="en-GB" b="1" dirty="0"/>
              <a:t>Default </a:t>
            </a:r>
            <a:r>
              <a:rPr lang="en-GB" b="1" dirty="0" err="1"/>
              <a:t>behavior</a:t>
            </a:r>
            <a:r>
              <a:rPr lang="en-GB" b="1" dirty="0"/>
              <a:t>:</a:t>
            </a:r>
            <a:endParaRPr lang="en-GB" dirty="0"/>
          </a:p>
          <a:p>
            <a:r>
              <a:rPr lang="en-GB" dirty="0"/>
              <a:t>If this acquisition method is </a:t>
            </a:r>
            <a:r>
              <a:rPr lang="en-GB" i="1" dirty="0"/>
              <a:t>unspecified</a:t>
            </a:r>
            <a:r>
              <a:rPr lang="en-GB" dirty="0"/>
              <a:t>, the spec would assume </a:t>
            </a:r>
            <a:r>
              <a:rPr lang="en-GB" b="1" dirty="0"/>
              <a:t>DDA</a:t>
            </a:r>
            <a:r>
              <a:rPr lang="en-GB" dirty="0"/>
              <a:t> as the default.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624627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4C467E55-20FE-DA46-69BD-D886A2A46E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9871999"/>
              </p:ext>
            </p:extLst>
          </p:nvPr>
        </p:nvGraphicFramePr>
        <p:xfrm>
          <a:off x="276916" y="406278"/>
          <a:ext cx="4295084" cy="6045444"/>
        </p:xfrm>
        <a:graphic>
          <a:graphicData uri="http://schemas.openxmlformats.org/drawingml/2006/table">
            <a:tbl>
              <a:tblPr/>
              <a:tblGrid>
                <a:gridCol w="1399447">
                  <a:extLst>
                    <a:ext uri="{9D8B030D-6E8A-4147-A177-3AD203B41FA5}">
                      <a16:colId xmlns:a16="http://schemas.microsoft.com/office/drawing/2014/main" val="1077720525"/>
                    </a:ext>
                  </a:extLst>
                </a:gridCol>
                <a:gridCol w="2895637">
                  <a:extLst>
                    <a:ext uri="{9D8B030D-6E8A-4147-A177-3AD203B41FA5}">
                      <a16:colId xmlns:a16="http://schemas.microsoft.com/office/drawing/2014/main" val="3632204840"/>
                    </a:ext>
                  </a:extLst>
                </a:gridCol>
              </a:tblGrid>
              <a:tr h="2327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00"/>
                        <a:t>Component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00"/>
                        <a:t>What’s new / changed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0467609"/>
                  </a:ext>
                </a:extLst>
              </a:tr>
              <a:tr h="12926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00" b="1"/>
                        <a:t>Schema-Driven Validation</a:t>
                      </a:r>
                      <a:endParaRPr lang="en-GB" sz="900"/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00"/>
                        <a:t>Use YAML/JSON schema definitions for SDRF validation rather than ad hoc code. Multiple organism- and use-case-specific schemas (e.g. minimum, default, human, plants, vertebrates, cell lines, non-vertebrates). Schemas support inheritance (templates extending other schemas). (</a:t>
                      </a:r>
                      <a:r>
                        <a:rPr lang="en-GB" sz="900">
                          <a:hlinkClick r:id="rId2" tooltip="Next major release by fabianegli · Pull Request #219 · bigbio/sdrf-pipelines · GitHub"/>
                        </a:rPr>
                        <a:t>GitHub</a:t>
                      </a:r>
                      <a:r>
                        <a:rPr lang="en-GB" sz="900"/>
                        <a:t>)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7103751"/>
                  </a:ext>
                </a:extLst>
              </a:tr>
              <a:tr h="11160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00" b="1"/>
                        <a:t>Modular Validators &amp; Plugins</a:t>
                      </a:r>
                      <a:endParaRPr lang="en-GB" sz="900"/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00"/>
                        <a:t>Validation is now done through modular validators (ontology validation, pattern matching, checks on minimum required columns, empty cells, unique combinations etc.), allowing more flexibility and extensibility. (</a:t>
                      </a:r>
                      <a:r>
                        <a:rPr lang="en-GB" sz="900">
                          <a:hlinkClick r:id="rId2" tooltip="Next major release by fabianegli · Pull Request #219 · bigbio/sdrf-pipelines · GitHub"/>
                        </a:rPr>
                        <a:t>GitHub</a:t>
                      </a:r>
                      <a:r>
                        <a:rPr lang="en-GB" sz="900"/>
                        <a:t>)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6459475"/>
                  </a:ext>
                </a:extLst>
              </a:tr>
              <a:tr h="7626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00" b="1"/>
                        <a:t>CLI Improvements</a:t>
                      </a:r>
                      <a:endParaRPr lang="en-GB" sz="900"/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00" dirty="0"/>
                        <a:t>A simplified validation command (</a:t>
                      </a:r>
                      <a:r>
                        <a:rPr lang="en-GB" sz="900" dirty="0">
                          <a:latin typeface="Courier New" panose="02070309020205020404" pitchFamily="49" charset="0"/>
                        </a:rPr>
                        <a:t>validate-</a:t>
                      </a:r>
                      <a:r>
                        <a:rPr lang="en-GB" sz="900" dirty="0" err="1">
                          <a:latin typeface="Courier New" panose="02070309020205020404" pitchFamily="49" charset="0"/>
                        </a:rPr>
                        <a:t>sdrf</a:t>
                      </a:r>
                      <a:r>
                        <a:rPr lang="en-GB" sz="900" dirty="0">
                          <a:latin typeface="Courier New" panose="02070309020205020404" pitchFamily="49" charset="0"/>
                        </a:rPr>
                        <a:t>-simple</a:t>
                      </a:r>
                      <a:r>
                        <a:rPr lang="en-GB" sz="900" dirty="0"/>
                        <a:t>) with more informative help text, </a:t>
                      </a:r>
                      <a:r>
                        <a:rPr lang="en-GB" sz="900" dirty="0" err="1"/>
                        <a:t>colored</a:t>
                      </a:r>
                      <a:r>
                        <a:rPr lang="en-GB" sz="900" dirty="0"/>
                        <a:t> error / warning output. Documentation improved. (</a:t>
                      </a:r>
                      <a:r>
                        <a:rPr lang="en-GB" sz="900" dirty="0">
                          <a:hlinkClick r:id="rId2" tooltip="Next major release by fabianegli · Pull Request #219 · bigbio/sdrf-pipelines · GitHub"/>
                        </a:rPr>
                        <a:t>GitHub</a:t>
                      </a:r>
                      <a:r>
                        <a:rPr lang="en-GB" sz="900" dirty="0"/>
                        <a:t>)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0116286"/>
                  </a:ext>
                </a:extLst>
              </a:tr>
              <a:tr h="9393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00" b="1"/>
                        <a:t>Code Refactoring &amp; Modernization</a:t>
                      </a:r>
                      <a:endParaRPr lang="en-GB" sz="900"/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00"/>
                        <a:t>Replaced legacy parts: DataFrame / column handling modernised, type annotations added, better error handling, replaced </a:t>
                      </a:r>
                      <a:r>
                        <a:rPr lang="en-GB" sz="900">
                          <a:latin typeface="Courier New" panose="02070309020205020404" pitchFamily="49" charset="0"/>
                        </a:rPr>
                        <a:t>pkg_resources</a:t>
                      </a:r>
                      <a:r>
                        <a:rPr lang="en-GB" sz="900"/>
                        <a:t> with </a:t>
                      </a:r>
                      <a:r>
                        <a:rPr lang="en-GB" sz="900">
                          <a:latin typeface="Courier New" panose="02070309020205020404" pitchFamily="49" charset="0"/>
                        </a:rPr>
                        <a:t>pathlib.Path</a:t>
                      </a:r>
                      <a:r>
                        <a:rPr lang="en-GB" sz="900"/>
                        <a:t>, removed deprecated modules. (</a:t>
                      </a:r>
                      <a:r>
                        <a:rPr lang="en-GB" sz="900">
                          <a:hlinkClick r:id="rId2" tooltip="Next major release by fabianegli · Pull Request #219 · bigbio/sdrf-pipelines · GitHub"/>
                        </a:rPr>
                        <a:t>GitHub</a:t>
                      </a:r>
                      <a:r>
                        <a:rPr lang="en-GB" sz="900"/>
                        <a:t>)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9115780"/>
                  </a:ext>
                </a:extLst>
              </a:tr>
              <a:tr h="7626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00" b="1"/>
                        <a:t>Build / Dependency Changes</a:t>
                      </a:r>
                      <a:endParaRPr lang="en-GB" sz="900"/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00"/>
                        <a:t>Switched to </a:t>
                      </a:r>
                      <a:r>
                        <a:rPr lang="en-GB" sz="900" b="1"/>
                        <a:t>Poetry</a:t>
                      </a:r>
                      <a:r>
                        <a:rPr lang="en-GB" sz="900"/>
                        <a:t> for packaging / dependency management. Cleaned up dependencies: removed deprecated or redundant ones. Updated Python version support. (</a:t>
                      </a:r>
                      <a:r>
                        <a:rPr lang="en-GB" sz="900">
                          <a:hlinkClick r:id="rId2" tooltip="Next major release by fabianegli · Pull Request #219 · bigbio/sdrf-pipelines · GitHub"/>
                        </a:rPr>
                        <a:t>GitHub</a:t>
                      </a:r>
                      <a:r>
                        <a:rPr lang="en-GB" sz="900"/>
                        <a:t>)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2467770"/>
                  </a:ext>
                </a:extLst>
              </a:tr>
              <a:tr h="9393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00" b="1"/>
                        <a:t>Testing &amp; Documentation</a:t>
                      </a:r>
                      <a:endParaRPr lang="en-GB" sz="900"/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00" dirty="0"/>
                        <a:t>Substantially expanded tests covering the new validation system, ontology utilities, converters, etc. Documentation (README, CONTRIBUTING) updated to reflect new schema-based workflows. (</a:t>
                      </a:r>
                      <a:r>
                        <a:rPr lang="en-GB" sz="900" dirty="0">
                          <a:hlinkClick r:id="rId2" tooltip="Next major release by fabianegli · Pull Request #219 · bigbio/sdrf-pipelines · GitHub"/>
                        </a:rPr>
                        <a:t>GitHub</a:t>
                      </a:r>
                      <a:r>
                        <a:rPr lang="en-GB" sz="900" dirty="0"/>
                        <a:t>)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7239670"/>
                  </a:ext>
                </a:extLst>
              </a:tr>
            </a:tbl>
          </a:graphicData>
        </a:graphic>
      </p:graphicFrame>
      <p:pic>
        <p:nvPicPr>
          <p:cNvPr id="17" name="Picture 1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8A962C8-CB7E-C335-C503-86B6CBAC09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1280" y="88286"/>
            <a:ext cx="6430621" cy="62640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DF10FE9-2891-7BD5-D303-3CF483AA57FA}"/>
              </a:ext>
            </a:extLst>
          </p:cNvPr>
          <p:cNvSpPr txBox="1"/>
          <p:nvPr/>
        </p:nvSpPr>
        <p:spPr>
          <a:xfrm>
            <a:off x="6944710" y="6432385"/>
            <a:ext cx="50875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https://github.com/bigbio/sdrf-pipelines/pull/219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474689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AEF8091-3610-90D5-754E-19093C37AD88}"/>
              </a:ext>
            </a:extLst>
          </p:cNvPr>
          <p:cNvSpPr txBox="1"/>
          <p:nvPr/>
        </p:nvSpPr>
        <p:spPr>
          <a:xfrm>
            <a:off x="3454860" y="2427890"/>
            <a:ext cx="52822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Other issues next week</a:t>
            </a:r>
          </a:p>
        </p:txBody>
      </p:sp>
    </p:spTree>
    <p:extLst>
      <p:ext uri="{BB962C8B-B14F-4D97-AF65-F5344CB8AC3E}">
        <p14:creationId xmlns:p14="http://schemas.microsoft.com/office/powerpoint/2010/main" val="33078550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5062</TotalTime>
  <Words>928</Words>
  <Application>Microsoft Macintosh PowerPoint</Application>
  <PresentationFormat>Widescreen</PresentationFormat>
  <Paragraphs>76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Courier New</vt:lpstr>
      <vt:lpstr>Wingdings</vt:lpstr>
      <vt:lpstr>Office Theme</vt:lpstr>
      <vt:lpstr>PowerPoint Presentation</vt:lpstr>
      <vt:lpstr>PowerPoint Presentation</vt:lpstr>
      <vt:lpstr>PowerPoint Presentation</vt:lpstr>
      <vt:lpstr>Refinements and issues: uniqueness</vt:lpstr>
      <vt:lpstr>Refinements and issues: technology type</vt:lpstr>
      <vt:lpstr>Refinements and issues: pooled samples</vt:lpstr>
      <vt:lpstr>Refinements and issues: DDA mode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Yasset Perez</dc:creator>
  <cp:lastModifiedBy>Yasset Perez</cp:lastModifiedBy>
  <cp:revision>2</cp:revision>
  <dcterms:created xsi:type="dcterms:W3CDTF">2025-09-12T12:59:26Z</dcterms:created>
  <dcterms:modified xsi:type="dcterms:W3CDTF">2025-10-27T10:36:33Z</dcterms:modified>
</cp:coreProperties>
</file>